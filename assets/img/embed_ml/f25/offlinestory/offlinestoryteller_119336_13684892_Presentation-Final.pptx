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embeddedFontLst>
    <p:embeddedFont>
      <p:font typeface="Century Gothic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VoWRJTXjM6OgaxnHuz9wu/TFX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regular.fntdata"/><Relationship Id="rId11" Type="http://schemas.openxmlformats.org/officeDocument/2006/relationships/slide" Target="slides/slide7.xml"/><Relationship Id="rId22" Type="http://schemas.openxmlformats.org/officeDocument/2006/relationships/font" Target="fonts/CenturyGothic-italic.fntdata"/><Relationship Id="rId10" Type="http://schemas.openxmlformats.org/officeDocument/2006/relationships/slide" Target="slides/slide6.xml"/><Relationship Id="rId21" Type="http://schemas.openxmlformats.org/officeDocument/2006/relationships/font" Target="fonts/CenturyGothic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CenturyGothic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dc17c5879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adc17c587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g3adc17c587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dc17c5879_1_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adc17c5879_1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2c9418164_0_1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a2c9418164_0_1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9" name="Google Shape;139;g3a2c9418164_0_1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dc17c5879_1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3adc17c5879_1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adc17c5879_1_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2c9418164_0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a2c9418164_0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a2c9418164_0_9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c17c5879_1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adc17c5879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adc17c5879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dc17c5879_1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adc17c5879_1_5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g3adc17c5879_1_5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dc17c5879_2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adc17c5879_2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g3adc17c5879_2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dc17c5879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adc17c5879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adc17c5879_2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dc17c5879_1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adc17c5879_1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adc17c5879_1_3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dc17c5879_2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g3adc17c5879_2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0" name="Google Shape;200;g3adc17c5879_2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dc17c5879_1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adc17c5879_1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adc17c5879_1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2c9418164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a2c9418164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e6138ec63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g3ae6138ec63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8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0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11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1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2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2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16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8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8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2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1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0" name="Google Shape;120;p1"/>
          <p:cNvSpPr/>
          <p:nvPr/>
        </p:nvSpPr>
        <p:spPr>
          <a:xfrm>
            <a:off x="637093" y="643467"/>
            <a:ext cx="10917814" cy="5571066"/>
          </a:xfrm>
          <a:custGeom>
            <a:rect b="b" l="l" r="r" t="t"/>
            <a:pathLst>
              <a:path extrusionOk="0" h="5571066" w="10917814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 txBox="1"/>
          <p:nvPr>
            <p:ph type="ctrTitle"/>
          </p:nvPr>
        </p:nvSpPr>
        <p:spPr>
          <a:xfrm>
            <a:off x="1280559" y="1286935"/>
            <a:ext cx="9638153" cy="252916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</a:pPr>
            <a:r>
              <a:rPr lang="en-US">
                <a:solidFill>
                  <a:schemeClr val="lt1"/>
                </a:solidFill>
              </a:rPr>
              <a:t>Offline Storytelling Companion</a:t>
            </a:r>
            <a:endParaRPr/>
          </a:p>
        </p:txBody>
      </p:sp>
      <p:sp>
        <p:nvSpPr>
          <p:cNvPr id="122" name="Google Shape;122;p1"/>
          <p:cNvSpPr txBox="1"/>
          <p:nvPr>
            <p:ph idx="1" type="subTitle"/>
          </p:nvPr>
        </p:nvSpPr>
        <p:spPr>
          <a:xfrm>
            <a:off x="1280559" y="4181855"/>
            <a:ext cx="9638153" cy="15339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Shreesh Tripathi • Vignesh Natarajan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dc17c5879_0_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Quick Summary</a:t>
            </a:r>
            <a:endParaRPr/>
          </a:p>
        </p:txBody>
      </p:sp>
      <p:sp>
        <p:nvSpPr>
          <p:cNvPr id="129" name="Google Shape;129;g3adc17c5879_0_6"/>
          <p:cNvSpPr txBox="1"/>
          <p:nvPr>
            <p:ph idx="1" type="body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What</a:t>
            </a:r>
            <a:br>
              <a:rPr b="1" lang="en-US"/>
            </a:br>
            <a:r>
              <a:rPr lang="en-US"/>
              <a:t>An offline bedtime-story companion on Jetson Orin Nano that generates and narrates kid‑safe stories using a tiny LLM + STT/TTS.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New vs. Enhancement</a:t>
            </a:r>
            <a:br>
              <a:rPr lang="en-US"/>
            </a:br>
            <a:r>
              <a:rPr lang="en-US"/>
              <a:t>New product built from open-source components (LLM, TTS) with a safety‑first pipeline.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Objective</a:t>
            </a:r>
            <a:br>
              <a:rPr lang="en-US"/>
            </a:br>
            <a:r>
              <a:rPr lang="en-US"/>
              <a:t>Deliver safe, customizable, internet‑free storytelling with &lt;5s start‑to‑speech latency via streaming.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For whom</a:t>
            </a:r>
            <a:br>
              <a:rPr lang="en-US"/>
            </a:br>
            <a:r>
              <a:rPr lang="en-US"/>
              <a:t>Children (end users), parents/educators (buyers/custodians).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dc17c5879_1_58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n-US"/>
              <a:t>Technical details - Hardware</a:t>
            </a:r>
            <a:endParaRPr/>
          </a:p>
        </p:txBody>
      </p:sp>
      <p:sp>
        <p:nvSpPr>
          <p:cNvPr id="135" name="Google Shape;135;g3adc17c5879_1_58"/>
          <p:cNvSpPr txBox="1"/>
          <p:nvPr>
            <p:ph idx="1" type="body"/>
          </p:nvPr>
        </p:nvSpPr>
        <p:spPr>
          <a:xfrm>
            <a:off x="818712" y="2357754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Compute platform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NVIDIA </a:t>
            </a:r>
            <a:r>
              <a:rPr b="1" lang="en-US"/>
              <a:t>Jetson Orin</a:t>
            </a:r>
            <a:r>
              <a:rPr lang="en-US"/>
              <a:t> (e.g., Orin NX) running the </a:t>
            </a:r>
            <a:r>
              <a:rPr b="1" lang="en-US"/>
              <a:t>L4T-ML GPU container</a:t>
            </a:r>
            <a:r>
              <a:rPr lang="en-US"/>
              <a:t> with CUDA enabled.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Audio I/O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/>
              <a:t>USB microphone</a:t>
            </a:r>
            <a:r>
              <a:rPr lang="en-US"/>
              <a:t> for speech input.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/>
              <a:t>USB speakers / USB audio DAC</a:t>
            </a:r>
            <a:r>
              <a:rPr lang="en-US"/>
              <a:t> for story playback.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Planned extensions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GPIO </a:t>
            </a:r>
            <a:r>
              <a:rPr b="1" lang="en-US"/>
              <a:t>push-button</a:t>
            </a:r>
            <a:r>
              <a:rPr lang="en-US"/>
              <a:t> to trigger interactions and a </a:t>
            </a:r>
            <a:r>
              <a:rPr b="1" lang="en-US"/>
              <a:t>status LED</a:t>
            </a:r>
            <a:r>
              <a:rPr lang="en-US"/>
              <a:t> to indicate system state (recording, thinking, speaking).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2c9418164_0_1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</a:pPr>
            <a:r>
              <a:rPr lang="en-US"/>
              <a:t>Technical details - Software</a:t>
            </a:r>
            <a:endParaRPr/>
          </a:p>
        </p:txBody>
      </p:sp>
      <p:sp>
        <p:nvSpPr>
          <p:cNvPr id="142" name="Google Shape;142;g3a2c9418164_0_146"/>
          <p:cNvSpPr txBox="1"/>
          <p:nvPr>
            <p:ph idx="1" type="body"/>
          </p:nvPr>
        </p:nvSpPr>
        <p:spPr>
          <a:xfrm>
            <a:off x="818712" y="2357754"/>
            <a:ext cx="10554574" cy="418697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b="1" lang="en-US"/>
              <a:t>Language &amp; framework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b="1" lang="en-US"/>
              <a:t>Python</a:t>
            </a:r>
            <a:r>
              <a:rPr lang="en-US"/>
              <a:t> running on the Jetson with </a:t>
            </a:r>
            <a:r>
              <a:rPr b="1" lang="en-US"/>
              <a:t>PyTorch</a:t>
            </a:r>
            <a:r>
              <a:rPr lang="en-US"/>
              <a:t> using the GPU.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b="1" lang="en-US"/>
              <a:t>AI models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b="1" lang="en-US"/>
              <a:t>Whisper Tiny</a:t>
            </a:r>
            <a:r>
              <a:rPr lang="en-US"/>
              <a:t> for turning speech into text (speech‑to‑text).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b="1" lang="en-US"/>
              <a:t>TinyLLaMA 1.1B Chat</a:t>
            </a:r>
            <a:r>
              <a:rPr lang="en-US"/>
              <a:t> for generating the story (language model).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b="1" lang="en-US"/>
              <a:t>Coqui TTS</a:t>
            </a:r>
            <a:r>
              <a:rPr lang="en-US"/>
              <a:t> for turning the story text back into audio (text‑to‑speech).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b="1" lang="en-US"/>
              <a:t>Audio handling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lang="en-US"/>
              <a:t>Uses simple Python audio libraries to </a:t>
            </a:r>
            <a:r>
              <a:rPr b="1" lang="en-US"/>
              <a:t>record from the USB mic</a:t>
            </a:r>
            <a:r>
              <a:rPr lang="en-US"/>
              <a:t>, </a:t>
            </a:r>
            <a:r>
              <a:rPr b="1" lang="en-US"/>
              <a:t>save/load WAV files</a:t>
            </a:r>
            <a:r>
              <a:rPr lang="en-US"/>
              <a:t>, and </a:t>
            </a:r>
            <a:r>
              <a:rPr b="1" lang="en-US"/>
              <a:t>play back</a:t>
            </a:r>
            <a:r>
              <a:rPr lang="en-US"/>
              <a:t> through the USB speakers.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rPr b="1" lang="en-US"/>
              <a:t>App logic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Font typeface="Arial"/>
              <a:buChar char="•"/>
            </a:pPr>
            <a:r>
              <a:rPr lang="en-US"/>
              <a:t>Python scripts that </a:t>
            </a:r>
            <a:r>
              <a:rPr b="1" lang="en-US"/>
              <a:t>connects all steps</a:t>
            </a:r>
            <a:r>
              <a:rPr lang="en-US"/>
              <a:t>: listen → transcribe → generate story → speak, plus a </a:t>
            </a:r>
            <a:r>
              <a:rPr b="1" lang="en-US"/>
              <a:t>text-only mode</a:t>
            </a:r>
            <a:r>
              <a:rPr lang="en-US"/>
              <a:t> for development without audio.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08108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dc17c5879_1_44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Technical Aspects</a:t>
            </a:r>
            <a:endParaRPr/>
          </a:p>
        </p:txBody>
      </p:sp>
      <p:sp>
        <p:nvSpPr>
          <p:cNvPr id="149" name="Google Shape;149;g3adc17c5879_1_44"/>
          <p:cNvSpPr txBox="1"/>
          <p:nvPr>
            <p:ph idx="1" type="body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User experience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Child speaks a short prompt (optionally starting with a wake word “storybot”), the system transcribes it, generates a 5–10 sentence wholesome story with a clear moral, and reads it aloud.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Latency-focused design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/>
              <a:t>Story is generated and spoken </a:t>
            </a:r>
            <a:r>
              <a:rPr b="1" lang="en-US"/>
              <a:t>sentence-by-sentence</a:t>
            </a:r>
            <a:r>
              <a:rPr lang="en-US"/>
              <a:t> (streaming), so audio output starts quickly instead of waiting for the full story.</a:t>
            </a:r>
            <a:endParaRPr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Modes</a:t>
            </a:r>
            <a:r>
              <a:rPr lang="en-US"/>
              <a:t>: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/>
              <a:t>Audio mode</a:t>
            </a:r>
            <a:r>
              <a:rPr lang="en-US"/>
              <a:t> for real interactions, </a:t>
            </a:r>
            <a:r>
              <a:rPr b="1" lang="en-US"/>
              <a:t>text-only mode</a:t>
            </a:r>
            <a:r>
              <a:rPr lang="en-US"/>
              <a:t> for development/debugging (no mic/speaker required).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2c9418164_0_98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Technical Aspects</a:t>
            </a:r>
            <a:endParaRPr/>
          </a:p>
        </p:txBody>
      </p:sp>
      <p:sp>
        <p:nvSpPr>
          <p:cNvPr id="156" name="Google Shape;156;g3a2c9418164_0_98"/>
          <p:cNvSpPr txBox="1"/>
          <p:nvPr>
            <p:ph idx="1" type="body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Added an additional thread: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Generation thread</a:t>
            </a:r>
            <a:r>
              <a:rPr lang="en-US"/>
              <a:t>: runs TinyLLaMA and pushes text chunks into the streamer.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Main thread</a:t>
            </a:r>
            <a:r>
              <a:rPr lang="en-US"/>
              <a:t>: drains the streamer, finds sentence boundaries, enqueues sentences for TTS, and records stats.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TTS worker thread</a:t>
            </a:r>
            <a:r>
              <a:rPr lang="en-US"/>
              <a:t>: pulls sentences from the queue and plays them, so audio no longer blocks streaming.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3adc17c5879_1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0224" y="1890000"/>
            <a:ext cx="3249912" cy="496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3adc17c5879_1_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95088" y="3097738"/>
            <a:ext cx="3249912" cy="25525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g3adc17c5879_1_6"/>
          <p:cNvCxnSpPr>
            <a:endCxn id="162" idx="1"/>
          </p:cNvCxnSpPr>
          <p:nvPr/>
        </p:nvCxnSpPr>
        <p:spPr>
          <a:xfrm>
            <a:off x="3886624" y="4374000"/>
            <a:ext cx="723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5" name="Google Shape;165;g3adc17c5879_1_6"/>
          <p:cNvCxnSpPr>
            <a:stCxn id="162" idx="3"/>
            <a:endCxn id="163" idx="1"/>
          </p:cNvCxnSpPr>
          <p:nvPr/>
        </p:nvCxnSpPr>
        <p:spPr>
          <a:xfrm>
            <a:off x="7860136" y="4374000"/>
            <a:ext cx="6351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6" name="Google Shape;166;g3adc17c5879_1_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en-US"/>
              <a:t>Architecture</a:t>
            </a:r>
            <a:endParaRPr/>
          </a:p>
        </p:txBody>
      </p:sp>
      <p:pic>
        <p:nvPicPr>
          <p:cNvPr id="167" name="Google Shape;167;g3adc17c5879_1_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7400" y="1832588"/>
            <a:ext cx="3267075" cy="506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dc17c5879_1_51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Metrics</a:t>
            </a:r>
            <a:endParaRPr/>
          </a:p>
        </p:txBody>
      </p:sp>
      <p:sp>
        <p:nvSpPr>
          <p:cNvPr id="174" name="Google Shape;174;g3adc17c5879_1_51"/>
          <p:cNvSpPr txBox="1"/>
          <p:nvPr>
            <p:ph idx="1" type="body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Captured run metrics for an example run: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Record audio</a:t>
            </a:r>
            <a:r>
              <a:rPr lang="en-US"/>
              <a:t>: 10 s (fixed recording window)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First audio after start</a:t>
            </a:r>
            <a:r>
              <a:rPr lang="en-US"/>
              <a:t>: </a:t>
            </a:r>
            <a:r>
              <a:rPr lang="en-US" u="sng"/>
              <a:t>3.25 s</a:t>
            </a:r>
            <a:endParaRPr u="sng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STT</a:t>
            </a:r>
            <a:r>
              <a:rPr lang="en-US"/>
              <a:t>: 1.97 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LLM stream</a:t>
            </a:r>
            <a:r>
              <a:rPr lang="en-US"/>
              <a:t>: TTFT=0.52s, first sentence=0.86s, tokens=253 @ 10.5 tok/s)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/>
              <a:t>TTS</a:t>
            </a:r>
            <a:r>
              <a:rPr lang="en-US"/>
              <a:t>: 14 sentences, total 155.35 s (avg 11.10 s/sentence)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dc17c5879_2_6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TTFT vs Prompt Length</a:t>
            </a:r>
            <a:endParaRPr/>
          </a:p>
        </p:txBody>
      </p:sp>
      <p:pic>
        <p:nvPicPr>
          <p:cNvPr id="181" name="Google Shape;181;g3adc17c5879_2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0000" y="2022325"/>
            <a:ext cx="7339549" cy="460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dc17c5879_2_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Accuracy Framework, n = 5000</a:t>
            </a:r>
            <a:endParaRPr/>
          </a:p>
        </p:txBody>
      </p:sp>
      <p:pic>
        <p:nvPicPr>
          <p:cNvPr id="188" name="Google Shape;188;g3adc17c5879_2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001" y="1916525"/>
            <a:ext cx="7709751" cy="488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3adc17c5879_1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225" y="1932875"/>
            <a:ext cx="6975001" cy="4925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3adc17c5879_1_30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Distribution of Compute (Attempt 1)</a:t>
            </a:r>
            <a:endParaRPr/>
          </a:p>
        </p:txBody>
      </p:sp>
      <p:sp>
        <p:nvSpPr>
          <p:cNvPr id="196" name="Google Shape;196;g3adc17c5879_1_30"/>
          <p:cNvSpPr txBox="1"/>
          <p:nvPr>
            <p:ph idx="1" type="body"/>
          </p:nvPr>
        </p:nvSpPr>
        <p:spPr>
          <a:xfrm>
            <a:off x="8085733" y="2499500"/>
            <a:ext cx="35055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Initial numbers. TTS was hogging resources and needed to be tweaked.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dc17c5879_2_1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Distribution of Compute (Optimized)</a:t>
            </a:r>
            <a:endParaRPr/>
          </a:p>
        </p:txBody>
      </p:sp>
      <p:pic>
        <p:nvPicPr>
          <p:cNvPr id="203" name="Google Shape;203;g3adc17c5879_2_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3287" y="1966800"/>
            <a:ext cx="7985424" cy="476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dc17c5879_1_22"/>
          <p:cNvSpPr txBox="1"/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Resource Utilization</a:t>
            </a:r>
            <a:endParaRPr/>
          </a:p>
        </p:txBody>
      </p:sp>
      <p:pic>
        <p:nvPicPr>
          <p:cNvPr id="210" name="Google Shape;210;g3adc17c5879_1_22"/>
          <p:cNvPicPr preferRelativeResize="0"/>
          <p:nvPr/>
        </p:nvPicPr>
        <p:blipFill rotWithShape="1">
          <a:blip r:embed="rId3">
            <a:alphaModFix/>
          </a:blip>
          <a:srcRect b="48598" l="0" r="0" t="5685"/>
          <a:stretch/>
        </p:blipFill>
        <p:spPr>
          <a:xfrm>
            <a:off x="116044" y="2479350"/>
            <a:ext cx="6162356" cy="338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adc17c5879_1_22"/>
          <p:cNvPicPr preferRelativeResize="0"/>
          <p:nvPr/>
        </p:nvPicPr>
        <p:blipFill rotWithShape="1">
          <a:blip r:embed="rId3">
            <a:alphaModFix/>
          </a:blip>
          <a:srcRect b="0" l="0" r="0" t="50708"/>
          <a:stretch/>
        </p:blipFill>
        <p:spPr>
          <a:xfrm>
            <a:off x="6360900" y="2483550"/>
            <a:ext cx="5715000" cy="338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2c9418164_0_9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7" name="Google Shape;217;g3a2c9418164_0_92"/>
          <p:cNvSpPr/>
          <p:nvPr/>
        </p:nvSpPr>
        <p:spPr>
          <a:xfrm>
            <a:off x="637093" y="643467"/>
            <a:ext cx="10917814" cy="5571066"/>
          </a:xfrm>
          <a:custGeom>
            <a:rect b="b" l="l" r="r" t="t"/>
            <a:pathLst>
              <a:path extrusionOk="0" h="5571066" w="10917814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g3a2c9418164_0_92"/>
          <p:cNvSpPr txBox="1"/>
          <p:nvPr>
            <p:ph type="ctrTitle"/>
          </p:nvPr>
        </p:nvSpPr>
        <p:spPr>
          <a:xfrm>
            <a:off x="1276950" y="2949606"/>
            <a:ext cx="9638100" cy="95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</a:pPr>
            <a:r>
              <a:rPr lang="en-US">
                <a:solidFill>
                  <a:schemeClr val="lt1"/>
                </a:solidFill>
              </a:rPr>
              <a:t>Demo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e6138ec63_0_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4" name="Google Shape;224;g3ae6138ec63_0_7"/>
          <p:cNvSpPr/>
          <p:nvPr/>
        </p:nvSpPr>
        <p:spPr>
          <a:xfrm>
            <a:off x="637093" y="643467"/>
            <a:ext cx="10917814" cy="5571066"/>
          </a:xfrm>
          <a:custGeom>
            <a:rect b="b" l="l" r="r" t="t"/>
            <a:pathLst>
              <a:path extrusionOk="0" h="5571066" w="10917814">
                <a:moveTo>
                  <a:pt x="195712" y="0"/>
                </a:moveTo>
                <a:lnTo>
                  <a:pt x="5062165" y="0"/>
                </a:lnTo>
                <a:lnTo>
                  <a:pt x="5419638" y="268105"/>
                </a:lnTo>
                <a:lnTo>
                  <a:pt x="5428105" y="271280"/>
                </a:lnTo>
                <a:lnTo>
                  <a:pt x="5440804" y="276043"/>
                </a:lnTo>
                <a:lnTo>
                  <a:pt x="5453505" y="280805"/>
                </a:lnTo>
                <a:lnTo>
                  <a:pt x="5464088" y="280805"/>
                </a:lnTo>
                <a:lnTo>
                  <a:pt x="5476788" y="280805"/>
                </a:lnTo>
                <a:lnTo>
                  <a:pt x="5487371" y="276043"/>
                </a:lnTo>
                <a:lnTo>
                  <a:pt x="5500071" y="271280"/>
                </a:lnTo>
                <a:lnTo>
                  <a:pt x="5508538" y="268105"/>
                </a:lnTo>
                <a:lnTo>
                  <a:pt x="5866011" y="0"/>
                </a:lnTo>
                <a:lnTo>
                  <a:pt x="10722102" y="0"/>
                </a:lnTo>
                <a:cubicBezTo>
                  <a:pt x="10830191" y="0"/>
                  <a:pt x="10917814" y="87623"/>
                  <a:pt x="10917814" y="195712"/>
                </a:cubicBezTo>
                <a:lnTo>
                  <a:pt x="10917814" y="5375354"/>
                </a:lnTo>
                <a:cubicBezTo>
                  <a:pt x="10917814" y="5483443"/>
                  <a:pt x="10830191" y="5571066"/>
                  <a:pt x="10722102" y="5571066"/>
                </a:cubicBezTo>
                <a:lnTo>
                  <a:pt x="195712" y="5571066"/>
                </a:lnTo>
                <a:cubicBezTo>
                  <a:pt x="87623" y="5571066"/>
                  <a:pt x="0" y="5483443"/>
                  <a:pt x="0" y="5375354"/>
                </a:cubicBezTo>
                <a:lnTo>
                  <a:pt x="0" y="195712"/>
                </a:lnTo>
                <a:cubicBezTo>
                  <a:pt x="0" y="87623"/>
                  <a:pt x="87623" y="0"/>
                  <a:pt x="195712" y="0"/>
                </a:cubicBezTo>
                <a:close/>
              </a:path>
            </a:pathLst>
          </a:cu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5" name="Google Shape;225;g3ae6138ec63_0_7"/>
          <p:cNvSpPr txBox="1"/>
          <p:nvPr>
            <p:ph type="ctrTitle"/>
          </p:nvPr>
        </p:nvSpPr>
        <p:spPr>
          <a:xfrm>
            <a:off x="1276950" y="2949606"/>
            <a:ext cx="9638100" cy="95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</a:pPr>
            <a:r>
              <a:rPr lang="en-US">
                <a:solidFill>
                  <a:schemeClr val="lt1"/>
                </a:solidFill>
              </a:rPr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2025-11-05T18:19:25Z</dcterms:created>
  <dc:creator>Vignesh Natarajan</dc:creator>
</cp:coreProperties>
</file>